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1" r:id="rId6"/>
    <p:sldId id="262" r:id="rId7"/>
    <p:sldId id="264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66"/>
    <p:restoredTop sz="94661"/>
  </p:normalViewPr>
  <p:slideViewPr>
    <p:cSldViewPr snapToGrid="0">
      <p:cViewPr varScale="1">
        <p:scale>
          <a:sx n="144" d="100"/>
          <a:sy n="144" d="100"/>
        </p:scale>
        <p:origin x="21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9D2C90-10B4-984F-895E-A0A300DB51CA}" type="datetimeFigureOut">
              <a:rPr lang="en-US" smtClean="0"/>
              <a:t>9/18/26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161590-1C02-5441-B088-09FA6E824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1942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161590-1C02-5441-B088-09FA6E8243F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296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2BEAC-6DF0-120C-2CF4-91EFB2A24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3B03DD-C7EA-2906-BB10-FD38532DF8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D46261-B85F-2D4E-9E82-20272E1A62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59F631-700E-E772-6BDE-4C781EB0BF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161590-1C02-5441-B088-09FA6E8243F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6735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E6B30-EF73-2A13-29F1-1C99E120D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DDE108-081D-CADB-567E-DD4063EEF4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6E00F0-E437-52B5-89C7-10A461120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C41F04-AFA5-3D55-209D-35B310A41D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161590-1C02-5441-B088-09FA6E8243F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3135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F7AFFB9B-9FB8-469E-96F9-4D32314110B6}" type="datetimeFigureOut">
              <a:rPr lang="en-US" dirty="0"/>
              <a:t>9/18/26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5560" y="4883024"/>
            <a:ext cx="4047239" cy="1195538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BDC27-E420-4878-9EE6-7B9656D6442A}" type="datetimeFigureOut">
              <a:rPr lang="en-US" dirty="0"/>
              <a:t>9/18/26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F47CF-67C9-420C-80A5-E2069FF0C2DF}" type="datetimeFigureOut">
              <a:rPr lang="en-US" dirty="0"/>
              <a:t>9/18/26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2DC73-F065-42F5-A9F2-D90B2E42A0B3}" type="datetimeFigureOut">
              <a:rPr lang="en-US" dirty="0"/>
              <a:t>9/18/26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EA702-9B29-41CC-9BCC-3DF8A0D379FE}" type="datetimeFigureOut">
              <a:rPr lang="en-US" dirty="0"/>
              <a:t>9/18/26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649AC-CB8F-4FF1-9A34-5861C74DD0A7}" type="datetimeFigureOut">
              <a:rPr lang="en-US" dirty="0"/>
              <a:t>9/18/26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5CECA-2D3A-4680-9B49-752200DE467C}" type="datetimeFigureOut">
              <a:rPr lang="en-US" dirty="0"/>
              <a:t>9/18/26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3BFE2-83B7-4B0A-B9D3-AB28331082B3}" type="datetimeFigureOut">
              <a:rPr lang="en-US" dirty="0"/>
              <a:t>9/18/26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F78E3-FDA3-4D28-AAA2-0B81F349A39D}" type="datetimeFigureOut">
              <a:rPr lang="en-US" dirty="0"/>
              <a:t>9/18/26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D2AC3-6A0B-4169-B1EA-E3AE8B351BDD}" type="datetimeFigureOut">
              <a:rPr lang="en-US" dirty="0"/>
              <a:t>9/18/26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B9363-8B87-41B7-9F8E-64519CBB8F34}" type="datetimeFigureOut">
              <a:rPr lang="en-US" dirty="0"/>
              <a:t>9/18/26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F5746-5284-4951-9F37-7AE924EDBCB7}" type="datetimeFigureOut">
              <a:rPr lang="en-US" dirty="0"/>
              <a:t>9/18/26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98B29-7265-4A65-A2A4-6703C057B7C1}" type="datetimeFigureOut">
              <a:rPr lang="en-US" dirty="0"/>
              <a:t>9/18/26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BA082-94DF-4C4B-A041-6624924AB0A8}" type="datetimeFigureOut">
              <a:rPr lang="en-US" dirty="0"/>
              <a:t>9/18/26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686C4-3AB5-4E0C-86CA-FB108C350AA9}" type="datetimeFigureOut">
              <a:rPr lang="en-US" dirty="0"/>
              <a:t>9/18/26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F1211-4E0C-4AB3-B04F-585959BDAFE8}" type="datetimeFigureOut">
              <a:rPr lang="en-US" dirty="0"/>
              <a:t>9/18/26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DECAF-D3BE-4069-9C78-642ECCD01477}" type="datetimeFigureOut">
              <a:rPr lang="en-US" dirty="0"/>
              <a:t>9/18/26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35BB1C6-BF8F-4481-8AB2-603A1C8A906A}" type="datetimeFigureOut">
              <a:rPr lang="en-US" dirty="0"/>
              <a:t>9/18/26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E5FDB-F95F-7A1B-901D-C4FFBC39FC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Customer Shopping Behavior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0E74AE-E282-A652-28E8-572F4E5A01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Data Analytics Project -  </a:t>
            </a:r>
            <a:r>
              <a:rPr lang="en-US" dirty="0"/>
              <a:t>Python | SQL | PostgreSQL | Power BI</a:t>
            </a:r>
          </a:p>
          <a:p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5935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2F5FF-3BAD-AEFD-D00A-69DE6F9E7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-18564"/>
            <a:ext cx="10396882" cy="1151965"/>
          </a:xfrm>
        </p:spPr>
        <p:txBody>
          <a:bodyPr>
            <a:normAutofit/>
          </a:bodyPr>
          <a:lstStyle/>
          <a:p>
            <a:r>
              <a:rPr lang="en-US" sz="4400" dirty="0"/>
              <a:t>1. Business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542FCC-4A41-207C-1272-A8C0231CEFD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3626" y="1032734"/>
            <a:ext cx="10396882" cy="4341851"/>
          </a:xfrm>
        </p:spPr>
        <p:txBody>
          <a:bodyPr>
            <a:noAutofit/>
          </a:bodyPr>
          <a:lstStyle/>
          <a:p>
            <a:pPr marL="0" indent="0">
              <a:spcBef>
                <a:spcPts val="400"/>
              </a:spcBef>
              <a:buNone/>
            </a:pPr>
            <a:r>
              <a:rPr lang="en-US" sz="1800" b="1" dirty="0"/>
              <a:t>The Problem</a:t>
            </a:r>
          </a:p>
          <a:p>
            <a:pPr>
              <a:spcBef>
                <a:spcPts val="400"/>
              </a:spcBef>
            </a:pPr>
            <a:r>
              <a:rPr lang="en-US" sz="1600" dirty="0">
                <a:latin typeface="Century" panose="02040604050505020304" pitchFamily="18" charset="0"/>
              </a:rPr>
              <a:t>Retail businesses collect large amounts of customer transaction data but need to convert it into actionable insights.</a:t>
            </a:r>
            <a:endParaRPr lang="en-US" sz="1800" dirty="0">
              <a:latin typeface="Century" panose="02040604050505020304" pitchFamily="18" charset="0"/>
            </a:endParaRPr>
          </a:p>
          <a:p>
            <a:pPr marL="0" indent="0">
              <a:spcBef>
                <a:spcPts val="400"/>
              </a:spcBef>
              <a:buNone/>
            </a:pPr>
            <a:r>
              <a:rPr lang="en-US" sz="1800" b="1" dirty="0"/>
              <a:t>Key Questions</a:t>
            </a:r>
          </a:p>
          <a:p>
            <a:pPr lvl="0">
              <a:spcBef>
                <a:spcPts val="400"/>
              </a:spcBef>
            </a:pPr>
            <a:r>
              <a:rPr lang="en-US" sz="1600" dirty="0">
                <a:latin typeface="Century" panose="02040604050505020304" pitchFamily="18" charset="0"/>
              </a:rPr>
              <a:t>Who are the major customer segments?</a:t>
            </a:r>
          </a:p>
          <a:p>
            <a:pPr lvl="0">
              <a:spcBef>
                <a:spcPts val="400"/>
              </a:spcBef>
            </a:pPr>
            <a:r>
              <a:rPr lang="en-US" sz="1600" dirty="0">
                <a:latin typeface="Century" panose="02040604050505020304" pitchFamily="18" charset="0"/>
              </a:rPr>
              <a:t>What products generate the most sales?</a:t>
            </a:r>
          </a:p>
          <a:p>
            <a:pPr lvl="0">
              <a:spcBef>
                <a:spcPts val="400"/>
              </a:spcBef>
            </a:pPr>
            <a:r>
              <a:rPr lang="en-US" sz="1600" dirty="0">
                <a:latin typeface="Century" panose="02040604050505020304" pitchFamily="18" charset="0"/>
              </a:rPr>
              <a:t>How do discounts affect purchasing?</a:t>
            </a:r>
          </a:p>
          <a:p>
            <a:pPr lvl="0">
              <a:spcBef>
                <a:spcPts val="400"/>
              </a:spcBef>
            </a:pPr>
            <a:r>
              <a:rPr lang="en-US" sz="1600" dirty="0">
                <a:latin typeface="Century" panose="02040604050505020304" pitchFamily="18" charset="0"/>
              </a:rPr>
              <a:t>Do subscribers behave differently?</a:t>
            </a:r>
          </a:p>
          <a:p>
            <a:pPr lvl="0">
              <a:spcBef>
                <a:spcPts val="400"/>
              </a:spcBef>
            </a:pPr>
            <a:r>
              <a:rPr lang="en-US" sz="1600" dirty="0">
                <a:latin typeface="Century" panose="02040604050505020304" pitchFamily="18" charset="0"/>
              </a:rPr>
              <a:t>Which products receive better ratings?</a:t>
            </a:r>
          </a:p>
          <a:p>
            <a:pPr lvl="0">
              <a:spcBef>
                <a:spcPts val="400"/>
              </a:spcBef>
            </a:pPr>
            <a:r>
              <a:rPr lang="en-US" sz="1600" dirty="0">
                <a:latin typeface="Century" panose="02040604050505020304" pitchFamily="18" charset="0"/>
              </a:rPr>
              <a:t>How can customer retention be improved?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800" b="1" dirty="0"/>
              <a:t>Core Question:</a:t>
            </a:r>
            <a:endParaRPr lang="en-US" sz="1800" dirty="0"/>
          </a:p>
          <a:p>
            <a:pPr>
              <a:spcBef>
                <a:spcPts val="400"/>
              </a:spcBef>
            </a:pPr>
            <a:r>
              <a:rPr lang="en-US" sz="1600" dirty="0">
                <a:latin typeface="Century" panose="02040604050505020304" pitchFamily="18" charset="0"/>
              </a:rPr>
              <a:t>How can customer shopping data be used to improve customer engagement and marketing strategy?</a:t>
            </a:r>
          </a:p>
        </p:txBody>
      </p:sp>
    </p:spTree>
    <p:extLst>
      <p:ext uri="{BB962C8B-B14F-4D97-AF65-F5344CB8AC3E}">
        <p14:creationId xmlns:p14="http://schemas.microsoft.com/office/powerpoint/2010/main" val="6472502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5057F-755A-573E-96DE-156095DAC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8C2AF-1CB5-02D6-D3B1-5F95D43AA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-18564"/>
            <a:ext cx="10396882" cy="1151965"/>
          </a:xfrm>
        </p:spPr>
        <p:txBody>
          <a:bodyPr>
            <a:normAutofit/>
          </a:bodyPr>
          <a:lstStyle/>
          <a:p>
            <a:r>
              <a:rPr lang="en-US" sz="4400" dirty="0"/>
              <a:t>2. 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4924B-2A73-A515-7582-EC94CD126AB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3626" y="1032734"/>
            <a:ext cx="10396882" cy="434185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/>
              <a:t>Objectives</a:t>
            </a:r>
          </a:p>
          <a:p>
            <a:pPr lvl="0"/>
            <a:r>
              <a:rPr lang="en-US" sz="1600" dirty="0">
                <a:latin typeface="Century" panose="02040604050505020304" pitchFamily="18" charset="0"/>
              </a:rPr>
              <a:t>Clean and prepare customer data</a:t>
            </a:r>
          </a:p>
          <a:p>
            <a:pPr lvl="0"/>
            <a:r>
              <a:rPr lang="en-US" sz="1600" dirty="0">
                <a:latin typeface="Century" panose="02040604050505020304" pitchFamily="18" charset="0"/>
              </a:rPr>
              <a:t>Understand purchasing behavior</a:t>
            </a:r>
          </a:p>
          <a:p>
            <a:pPr lvl="0"/>
            <a:r>
              <a:rPr lang="en-US" sz="1600" dirty="0">
                <a:latin typeface="Century" panose="02040604050505020304" pitchFamily="18" charset="0"/>
              </a:rPr>
              <a:t>Analyze customer segments</a:t>
            </a:r>
          </a:p>
          <a:p>
            <a:pPr lvl="0"/>
            <a:r>
              <a:rPr lang="en-US" sz="1600" dirty="0">
                <a:latin typeface="Century" panose="02040604050505020304" pitchFamily="18" charset="0"/>
              </a:rPr>
              <a:t>Study product performance</a:t>
            </a:r>
          </a:p>
          <a:p>
            <a:pPr lvl="0"/>
            <a:r>
              <a:rPr lang="en-US" sz="1600" dirty="0">
                <a:latin typeface="Century" panose="02040604050505020304" pitchFamily="18" charset="0"/>
              </a:rPr>
              <a:t>Analyze discounts</a:t>
            </a:r>
          </a:p>
          <a:p>
            <a:pPr lvl="0"/>
            <a:r>
              <a:rPr lang="en-US" sz="1600" dirty="0">
                <a:latin typeface="Century" panose="02040604050505020304" pitchFamily="18" charset="0"/>
              </a:rPr>
              <a:t>Compare subscribers and non-subscribers</a:t>
            </a:r>
          </a:p>
          <a:p>
            <a:pPr lvl="0"/>
            <a:r>
              <a:rPr lang="en-US" sz="1600" dirty="0">
                <a:latin typeface="Century" panose="02040604050505020304" pitchFamily="18" charset="0"/>
              </a:rPr>
              <a:t>Identify purchasing patterns</a:t>
            </a:r>
          </a:p>
          <a:p>
            <a:pPr lvl="0"/>
            <a:r>
              <a:rPr lang="en-US" sz="1600" dirty="0">
                <a:latin typeface="Century" panose="02040604050505020304" pitchFamily="18" charset="0"/>
              </a:rPr>
              <a:t>Build an interactive Power BI dashboard</a:t>
            </a:r>
          </a:p>
          <a:p>
            <a:pPr lvl="0"/>
            <a:r>
              <a:rPr lang="en-US" sz="1600" dirty="0">
                <a:latin typeface="Century" panose="02040604050505020304" pitchFamily="18" charset="0"/>
              </a:rPr>
              <a:t>Generate business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2008612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705EF-47E4-29ED-0B9E-04BAB78B1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C462D-33F2-74BB-9CEF-E554D17FC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-18564"/>
            <a:ext cx="10396882" cy="1151965"/>
          </a:xfrm>
        </p:spPr>
        <p:txBody>
          <a:bodyPr>
            <a:normAutofit/>
          </a:bodyPr>
          <a:lstStyle/>
          <a:p>
            <a:r>
              <a:rPr lang="en-US" sz="4400" dirty="0"/>
              <a:t>3.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19F45-7AEC-A59C-CBCC-579B9E1D8BB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12389" y="969214"/>
            <a:ext cx="10574481" cy="37491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Dataset Overview</a:t>
            </a:r>
            <a:endParaRPr lang="en-US" sz="1600" dirty="0">
              <a:latin typeface="Century" panose="020406040505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1DD11F9-5606-ACAA-2BDB-A8C93422FA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1135905"/>
              </p:ext>
            </p:extLst>
          </p:nvPr>
        </p:nvGraphicFramePr>
        <p:xfrm>
          <a:off x="783604" y="1417487"/>
          <a:ext cx="10396538" cy="2560320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5198269">
                  <a:extLst>
                    <a:ext uri="{9D8B030D-6E8A-4147-A177-3AD203B41FA5}">
                      <a16:colId xmlns:a16="http://schemas.microsoft.com/office/drawing/2014/main" val="2771290545"/>
                    </a:ext>
                  </a:extLst>
                </a:gridCol>
                <a:gridCol w="5198269">
                  <a:extLst>
                    <a:ext uri="{9D8B030D-6E8A-4147-A177-3AD203B41FA5}">
                      <a16:colId xmlns:a16="http://schemas.microsoft.com/office/drawing/2014/main" val="4635948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u="none" strike="noStrike" dirty="0">
                          <a:effectLst/>
                          <a:latin typeface="+mn-lt"/>
                        </a:rPr>
                        <a:t>Metric</a:t>
                      </a:r>
                      <a:endParaRPr lang="en-US" b="0" i="0" u="none" strike="noStrike" dirty="0">
                        <a:solidFill>
                          <a:srgbClr val="FFFFFF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u="none" strike="noStrike" dirty="0">
                          <a:effectLst/>
                          <a:latin typeface="+mn-lt"/>
                        </a:rPr>
                        <a:t>Value</a:t>
                      </a:r>
                      <a:endParaRPr lang="en-US" b="0" i="0" u="none" strike="noStrike" dirty="0">
                        <a:solidFill>
                          <a:srgbClr val="FFFFFF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0728873"/>
                  </a:ext>
                </a:extLst>
              </a:tr>
              <a:tr h="2390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u="none" strike="noStrike" dirty="0">
                          <a:effectLst/>
                          <a:latin typeface="Century" panose="02040604050505020304" pitchFamily="18" charset="0"/>
                        </a:rPr>
                        <a:t>Records</a:t>
                      </a:r>
                      <a:endParaRPr lang="en-US" b="0" i="0" u="none" strike="noStrike" dirty="0">
                        <a:solidFill>
                          <a:srgbClr val="FFFFFF"/>
                        </a:solidFill>
                        <a:effectLst/>
                        <a:latin typeface="Century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u="none" strike="noStrike" dirty="0">
                          <a:effectLst/>
                          <a:latin typeface="Century" panose="02040604050505020304" pitchFamily="18" charset="0"/>
                        </a:rPr>
                        <a:t>3,900</a:t>
                      </a:r>
                      <a:endParaRPr lang="en-US" b="0" i="0" u="none" strike="noStrike" dirty="0">
                        <a:solidFill>
                          <a:srgbClr val="FFFFFF"/>
                        </a:solidFill>
                        <a:effectLst/>
                        <a:latin typeface="Century" panose="020406040505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05089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u="none" strike="noStrike" dirty="0">
                          <a:effectLst/>
                          <a:latin typeface="Century" panose="02040604050505020304" pitchFamily="18" charset="0"/>
                        </a:rPr>
                        <a:t>Attributes</a:t>
                      </a:r>
                      <a:endParaRPr lang="en-US" b="0" i="0" u="none" strike="noStrike" dirty="0">
                        <a:solidFill>
                          <a:srgbClr val="FFFFFF"/>
                        </a:solidFill>
                        <a:effectLst/>
                        <a:latin typeface="Century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u="none" strike="noStrike" dirty="0">
                          <a:effectLst/>
                          <a:latin typeface="Century" panose="02040604050505020304" pitchFamily="18" charset="0"/>
                        </a:rPr>
                        <a:t>18</a:t>
                      </a:r>
                      <a:endParaRPr lang="en-US" b="0" i="0" u="none" strike="noStrike" dirty="0">
                        <a:solidFill>
                          <a:srgbClr val="FFFFFF"/>
                        </a:solidFill>
                        <a:effectLst/>
                        <a:latin typeface="Century" panose="020406040505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48678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u="none" strike="noStrike" dirty="0">
                          <a:effectLst/>
                          <a:latin typeface="Century" panose="02040604050505020304" pitchFamily="18" charset="0"/>
                        </a:rPr>
                        <a:t>Products</a:t>
                      </a:r>
                      <a:endParaRPr lang="en-US" b="0" i="0" u="none" strike="noStrike" dirty="0">
                        <a:solidFill>
                          <a:srgbClr val="FFFFFF"/>
                        </a:solidFill>
                        <a:effectLst/>
                        <a:latin typeface="Century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u="none" strike="noStrike">
                          <a:effectLst/>
                          <a:latin typeface="Century" panose="02040604050505020304" pitchFamily="18" charset="0"/>
                        </a:rPr>
                        <a:t>25</a:t>
                      </a:r>
                      <a:endParaRPr lang="en-US" b="0" i="0" u="none" strike="noStrike">
                        <a:solidFill>
                          <a:srgbClr val="FFFFFF"/>
                        </a:solidFill>
                        <a:effectLst/>
                        <a:latin typeface="Century" panose="020406040505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03821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u="none" strike="noStrike" dirty="0">
                          <a:effectLst/>
                          <a:latin typeface="Century" panose="02040604050505020304" pitchFamily="18" charset="0"/>
                        </a:rPr>
                        <a:t>Categories</a:t>
                      </a:r>
                      <a:endParaRPr lang="en-US" b="0" i="0" u="none" strike="noStrike" dirty="0">
                        <a:solidFill>
                          <a:srgbClr val="FFFFFF"/>
                        </a:solidFill>
                        <a:effectLst/>
                        <a:latin typeface="Century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u="none" strike="noStrike">
                          <a:effectLst/>
                          <a:latin typeface="Century" panose="02040604050505020304" pitchFamily="18" charset="0"/>
                        </a:rPr>
                        <a:t>4</a:t>
                      </a:r>
                      <a:endParaRPr lang="en-US" b="0" i="0" u="none" strike="noStrike">
                        <a:solidFill>
                          <a:srgbClr val="FFFFFF"/>
                        </a:solidFill>
                        <a:effectLst/>
                        <a:latin typeface="Century" panose="020406040505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10828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u="none" strike="noStrike">
                          <a:effectLst/>
                          <a:latin typeface="Century" panose="02040604050505020304" pitchFamily="18" charset="0"/>
                        </a:rPr>
                        <a:t>Locations</a:t>
                      </a:r>
                      <a:endParaRPr lang="en-US" b="0" i="0" u="none" strike="noStrike">
                        <a:solidFill>
                          <a:srgbClr val="FFFFFF"/>
                        </a:solidFill>
                        <a:effectLst/>
                        <a:latin typeface="Century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u="none" strike="noStrike">
                          <a:effectLst/>
                          <a:latin typeface="Century" panose="02040604050505020304" pitchFamily="18" charset="0"/>
                        </a:rPr>
                        <a:t>50</a:t>
                      </a:r>
                      <a:endParaRPr lang="en-US" b="0" i="0" u="none" strike="noStrike">
                        <a:solidFill>
                          <a:srgbClr val="FFFFFF"/>
                        </a:solidFill>
                        <a:effectLst/>
                        <a:latin typeface="Century" panose="020406040505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78052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u="none" strike="noStrike" dirty="0">
                          <a:effectLst/>
                          <a:latin typeface="Century" panose="02040604050505020304" pitchFamily="18" charset="0"/>
                        </a:rPr>
                        <a:t>Missing Ratings</a:t>
                      </a:r>
                      <a:endParaRPr lang="en-US" b="0" i="0" u="none" strike="noStrike" dirty="0">
                        <a:solidFill>
                          <a:srgbClr val="FFFFFF"/>
                        </a:solidFill>
                        <a:effectLst/>
                        <a:latin typeface="Century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u="none" strike="noStrike" dirty="0">
                          <a:effectLst/>
                          <a:latin typeface="Century" panose="02040604050505020304" pitchFamily="18" charset="0"/>
                        </a:rPr>
                        <a:t>37</a:t>
                      </a:r>
                      <a:endParaRPr lang="en-US" b="0" i="0" u="none" strike="noStrike" dirty="0">
                        <a:solidFill>
                          <a:srgbClr val="FFFFFF"/>
                        </a:solidFill>
                        <a:effectLst/>
                        <a:latin typeface="Century" panose="020406040505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60258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8E6949C-89DF-B0C5-21CA-59C9F6ADE194}"/>
              </a:ext>
            </a:extLst>
          </p:cNvPr>
          <p:cNvSpPr txBox="1"/>
          <p:nvPr/>
        </p:nvSpPr>
        <p:spPr>
          <a:xfrm>
            <a:off x="712389" y="4284350"/>
            <a:ext cx="61389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US" b="1" i="0" u="none" strike="noStrike" dirty="0">
                <a:solidFill>
                  <a:schemeClr val="tx1"/>
                </a:solidFill>
                <a:effectLst/>
              </a:rPr>
              <a:t>Major Data Areas</a:t>
            </a:r>
          </a:p>
          <a:p>
            <a:pPr indent="0" algn="l">
              <a:buNone/>
            </a:pPr>
            <a:r>
              <a:rPr lang="en-US" b="1" i="0" u="none" strike="noStrike" dirty="0">
                <a:solidFill>
                  <a:schemeClr val="tx1"/>
                </a:solidFill>
                <a:effectLst/>
                <a:latin typeface="Century" panose="02040604050505020304" pitchFamily="18" charset="0"/>
              </a:rPr>
              <a:t>Customer → Product → Transaction → Behavior</a:t>
            </a:r>
            <a:endParaRPr lang="en-US" b="0" i="0" u="none" strike="noStrike" dirty="0">
              <a:solidFill>
                <a:srgbClr val="FFFFFF"/>
              </a:solidFill>
              <a:effectLst/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6500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10A77-71CB-DBF3-C66B-5846DBF37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178D7-950C-C0D0-EB1C-356C23875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-18564"/>
            <a:ext cx="10396882" cy="1151965"/>
          </a:xfrm>
        </p:spPr>
        <p:txBody>
          <a:bodyPr>
            <a:normAutofit/>
          </a:bodyPr>
          <a:lstStyle/>
          <a:p>
            <a:r>
              <a:rPr lang="en-US" sz="4400" dirty="0"/>
              <a:t>4. Technology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5A594-F091-2F32-069E-10D50958F33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6879" y="969214"/>
            <a:ext cx="10574481" cy="4481675"/>
          </a:xfrm>
        </p:spPr>
        <p:txBody>
          <a:bodyPr>
            <a:noAutofit/>
          </a:bodyPr>
          <a:lstStyle/>
          <a:p>
            <a:pPr marL="0" indent="0">
              <a:spcBef>
                <a:spcPts val="400"/>
              </a:spcBef>
              <a:buNone/>
            </a:pPr>
            <a:r>
              <a:rPr lang="en-US" sz="1800" b="1" dirty="0"/>
              <a:t>1. Python</a:t>
            </a:r>
            <a:endParaRPr lang="en-US" sz="18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800" dirty="0">
                <a:latin typeface="Century" panose="02040604050505020304" pitchFamily="18" charset="0"/>
              </a:rPr>
              <a:t>Data cleaning and exploratory analysis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800" b="1" dirty="0"/>
              <a:t>2. Pandas</a:t>
            </a:r>
            <a:endParaRPr lang="en-US" sz="18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800" dirty="0">
                <a:latin typeface="Century" panose="02040604050505020304" pitchFamily="18" charset="0"/>
              </a:rPr>
              <a:t>Data manipulation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800" b="1" dirty="0"/>
              <a:t>3. PostgreSQL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800" dirty="0">
                <a:latin typeface="Century" panose="02040604050505020304" pitchFamily="18" charset="0"/>
              </a:rPr>
              <a:t>Database storage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800" b="1" dirty="0"/>
              <a:t>4. SQL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800" dirty="0">
                <a:latin typeface="Century" panose="02040604050505020304" pitchFamily="18" charset="0"/>
              </a:rPr>
              <a:t>Business analysis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800" b="1" dirty="0"/>
              <a:t>5. Power BI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800" dirty="0">
                <a:latin typeface="Century" panose="02040604050505020304" pitchFamily="18" charset="0"/>
              </a:rPr>
              <a:t>Dashboard and visualization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800" b="1" dirty="0"/>
              <a:t>6. Jupyter Notebook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800" dirty="0">
                <a:latin typeface="Century" panose="02040604050505020304" pitchFamily="18" charset="0"/>
              </a:rPr>
              <a:t>Interactive analysis</a:t>
            </a:r>
          </a:p>
        </p:txBody>
      </p:sp>
    </p:spTree>
    <p:extLst>
      <p:ext uri="{BB962C8B-B14F-4D97-AF65-F5344CB8AC3E}">
        <p14:creationId xmlns:p14="http://schemas.microsoft.com/office/powerpoint/2010/main" val="3962958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F66DF-F9BF-7FB9-8E8F-B82996DE0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930B1-1EAF-F713-B929-7B67B6BBA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-18564"/>
            <a:ext cx="10396882" cy="1151965"/>
          </a:xfrm>
        </p:spPr>
        <p:txBody>
          <a:bodyPr>
            <a:normAutofit/>
          </a:bodyPr>
          <a:lstStyle/>
          <a:p>
            <a:r>
              <a:rPr lang="en-US" sz="4400" dirty="0"/>
              <a:t>5. 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7FBA6-3D2F-B572-16CB-A32CA209B91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3626" y="1068246"/>
            <a:ext cx="10396882" cy="434185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/>
              <a:t>Data Preparation Process</a:t>
            </a:r>
            <a:endParaRPr lang="en-US" sz="1600" b="1" dirty="0"/>
          </a:p>
          <a:p>
            <a:pPr marL="0" lvl="0" indent="0">
              <a:spcBef>
                <a:spcPts val="0"/>
              </a:spcBef>
              <a:buNone/>
            </a:pPr>
            <a:r>
              <a:rPr lang="en-US" sz="1000" b="1" dirty="0">
                <a:latin typeface="Century" panose="02040604050505020304" pitchFamily="18" charset="0"/>
              </a:rPr>
              <a:t>Raw CSV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en-US" sz="1000" b="1" dirty="0">
                <a:latin typeface="Century" panose="02040604050505020304" pitchFamily="18" charset="0"/>
              </a:rPr>
              <a:t>   ↓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en-US" sz="1000" b="1" dirty="0">
                <a:latin typeface="Century" panose="02040604050505020304" pitchFamily="18" charset="0"/>
              </a:rPr>
              <a:t>Data Inspection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en-US" sz="1000" b="1" dirty="0">
                <a:latin typeface="Century" panose="02040604050505020304" pitchFamily="18" charset="0"/>
              </a:rPr>
              <a:t>   ↓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en-US" sz="1000" b="1" dirty="0">
                <a:latin typeface="Century" panose="02040604050505020304" pitchFamily="18" charset="0"/>
              </a:rPr>
              <a:t>Missing Value Analysis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en-US" sz="1000" b="1" dirty="0">
                <a:latin typeface="Century" panose="02040604050505020304" pitchFamily="18" charset="0"/>
              </a:rPr>
              <a:t>   ↓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en-US" sz="1000" b="1" dirty="0">
                <a:latin typeface="Century" panose="02040604050505020304" pitchFamily="18" charset="0"/>
              </a:rPr>
              <a:t>Data Cleaning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en-US" sz="1000" b="1" dirty="0">
                <a:latin typeface="Century" panose="02040604050505020304" pitchFamily="18" charset="0"/>
              </a:rPr>
              <a:t>   ↓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en-US" sz="1000" b="1" dirty="0">
                <a:latin typeface="Century" panose="02040604050505020304" pitchFamily="18" charset="0"/>
              </a:rPr>
              <a:t>Column Standardization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en-US" sz="1000" b="1" dirty="0">
                <a:latin typeface="Century" panose="02040604050505020304" pitchFamily="18" charset="0"/>
              </a:rPr>
              <a:t>   ↓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en-US" sz="1000" b="1" dirty="0">
                <a:latin typeface="Century" panose="02040604050505020304" pitchFamily="18" charset="0"/>
              </a:rPr>
              <a:t>Feature Engineering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en-US" sz="1000" b="1" dirty="0">
                <a:latin typeface="Century" panose="02040604050505020304" pitchFamily="18" charset="0"/>
              </a:rPr>
              <a:t>   ↓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en-US" sz="1000" b="1" dirty="0">
                <a:latin typeface="Century" panose="02040604050505020304" pitchFamily="18" charset="0"/>
              </a:rPr>
              <a:t>Clean Dataset</a:t>
            </a:r>
          </a:p>
          <a:p>
            <a:pPr marL="0" indent="0">
              <a:buNone/>
            </a:pPr>
            <a:r>
              <a:rPr lang="en-US" sz="1600" b="1" dirty="0"/>
              <a:t>Key Cleaning Activities</a:t>
            </a:r>
          </a:p>
          <a:p>
            <a:pPr lvl="0">
              <a:spcBef>
                <a:spcPts val="0"/>
              </a:spcBef>
            </a:pPr>
            <a:r>
              <a:rPr lang="en-US" sz="1200" dirty="0">
                <a:latin typeface="Century" panose="02040604050505020304" pitchFamily="18" charset="0"/>
              </a:rPr>
              <a:t>Checked data types</a:t>
            </a:r>
          </a:p>
          <a:p>
            <a:pPr lvl="0">
              <a:spcBef>
                <a:spcPts val="0"/>
              </a:spcBef>
            </a:pPr>
            <a:r>
              <a:rPr lang="en-US" sz="1200" dirty="0">
                <a:latin typeface="Century" panose="02040604050505020304" pitchFamily="18" charset="0"/>
              </a:rPr>
              <a:t>Checked missing values</a:t>
            </a:r>
          </a:p>
          <a:p>
            <a:pPr lvl="0">
              <a:spcBef>
                <a:spcPts val="0"/>
              </a:spcBef>
            </a:pPr>
            <a:r>
              <a:rPr lang="en-US" sz="1200" dirty="0">
                <a:latin typeface="Century" panose="02040604050505020304" pitchFamily="18" charset="0"/>
              </a:rPr>
              <a:t>Imputed missing review ratings</a:t>
            </a:r>
          </a:p>
          <a:p>
            <a:pPr lvl="0">
              <a:spcBef>
                <a:spcPts val="0"/>
              </a:spcBef>
            </a:pPr>
            <a:r>
              <a:rPr lang="en-US" sz="1200" dirty="0">
                <a:latin typeface="Century" panose="02040604050505020304" pitchFamily="18" charset="0"/>
              </a:rPr>
              <a:t>Standardized column names</a:t>
            </a:r>
          </a:p>
          <a:p>
            <a:pPr lvl="0">
              <a:spcBef>
                <a:spcPts val="0"/>
              </a:spcBef>
            </a:pPr>
            <a:r>
              <a:rPr lang="en-US" sz="1200" dirty="0">
                <a:latin typeface="Century" panose="02040604050505020304" pitchFamily="18" charset="0"/>
              </a:rPr>
              <a:t>Created age groups</a:t>
            </a:r>
          </a:p>
          <a:p>
            <a:pPr lvl="0">
              <a:spcBef>
                <a:spcPts val="0"/>
              </a:spcBef>
            </a:pPr>
            <a:r>
              <a:rPr lang="en-US" sz="1200" dirty="0">
                <a:latin typeface="Century" panose="02040604050505020304" pitchFamily="18" charset="0"/>
              </a:rPr>
              <a:t>Created purchase-frequency features</a:t>
            </a:r>
          </a:p>
          <a:p>
            <a:pPr lvl="0">
              <a:spcBef>
                <a:spcPts val="0"/>
              </a:spcBef>
            </a:pPr>
            <a:r>
              <a:rPr lang="en-US" sz="1200" dirty="0">
                <a:latin typeface="Century" panose="02040604050505020304" pitchFamily="18" charset="0"/>
              </a:rPr>
              <a:t>Removed redundant analytical fields</a:t>
            </a:r>
          </a:p>
          <a:p>
            <a:pPr marL="0" lvl="0" indent="0">
              <a:spcBef>
                <a:spcPts val="0"/>
              </a:spcBef>
              <a:buNone/>
            </a:pPr>
            <a:endParaRPr lang="en-US" sz="1000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8877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3DEDF-A7F7-DB2A-BDBC-933E71AF5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FBC98-8909-4BC1-4CE0-DE9F52562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-18564"/>
            <a:ext cx="10396882" cy="1151965"/>
          </a:xfrm>
        </p:spPr>
        <p:txBody>
          <a:bodyPr>
            <a:normAutofit/>
          </a:bodyPr>
          <a:lstStyle/>
          <a:p>
            <a:r>
              <a:rPr lang="en-US" sz="4400" dirty="0"/>
              <a:t>7. Exploratory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A9DE4-B313-96E4-453C-7CF2DE13072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3626" y="1068246"/>
            <a:ext cx="10396882" cy="4341851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What Did We Analyze?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latin typeface="Century" panose="02040604050505020304" pitchFamily="18" charset="0"/>
              </a:rPr>
              <a:t>1. Customers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Century" panose="02040604050505020304" pitchFamily="18" charset="0"/>
              </a:rPr>
              <a:t>    Age, gender, location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latin typeface="Century" panose="02040604050505020304" pitchFamily="18" charset="0"/>
              </a:rPr>
              <a:t>2. Products</a:t>
            </a:r>
            <a:endParaRPr lang="en-US" sz="1800" dirty="0">
              <a:latin typeface="Century" panose="020406040505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Century" panose="02040604050505020304" pitchFamily="18" charset="0"/>
              </a:rPr>
              <a:t>    Category, product, size, color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latin typeface="Century" panose="02040604050505020304" pitchFamily="18" charset="0"/>
              </a:rPr>
              <a:t>3. Transactions</a:t>
            </a:r>
            <a:endParaRPr lang="en-US" sz="1800" dirty="0">
              <a:latin typeface="Century" panose="020406040505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Century" panose="02040604050505020304" pitchFamily="18" charset="0"/>
              </a:rPr>
              <a:t>    Purchase amount, shipping, discounts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latin typeface="Century" panose="02040604050505020304" pitchFamily="18" charset="0"/>
              </a:rPr>
              <a:t>4. Behavior</a:t>
            </a:r>
            <a:endParaRPr lang="en-US" sz="1800" dirty="0">
              <a:latin typeface="Century" panose="020406040505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Century" panose="02040604050505020304" pitchFamily="18" charset="0"/>
              </a:rPr>
              <a:t>    Previous purchases, subscription, frequency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latin typeface="Century" panose="02040604050505020304" pitchFamily="18" charset="0"/>
              </a:rPr>
              <a:t>5. Feedback</a:t>
            </a:r>
            <a:endParaRPr lang="en-US" sz="1800" dirty="0">
              <a:latin typeface="Century" panose="020406040505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Century" panose="02040604050505020304" pitchFamily="18" charset="0"/>
              </a:rPr>
              <a:t>    Review ratings</a:t>
            </a:r>
            <a:endParaRPr lang="en-US" sz="2400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3743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2D4FE-ED31-1B06-4ED8-25D2DDA2C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F8D60-0882-E533-C9E1-F8010C942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-18564"/>
            <a:ext cx="10396882" cy="1151965"/>
          </a:xfrm>
        </p:spPr>
        <p:txBody>
          <a:bodyPr>
            <a:normAutofit/>
          </a:bodyPr>
          <a:lstStyle/>
          <a:p>
            <a:r>
              <a:rPr lang="en-US" sz="4400" dirty="0"/>
              <a:t>8.</a:t>
            </a:r>
            <a:r>
              <a:rPr lang="en-US" sz="3600" dirty="0"/>
              <a:t> </a:t>
            </a:r>
            <a:r>
              <a:rPr lang="en-US" sz="4400" b="1" dirty="0"/>
              <a:t>SQL Analysis</a:t>
            </a:r>
            <a:endParaRPr lang="en-US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BD10B-242D-7B7E-AF9C-227E36FB8D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3626" y="1068247"/>
            <a:ext cx="10396882" cy="98249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u="sng" dirty="0"/>
              <a:t>Business Questions Answered</a:t>
            </a:r>
          </a:p>
          <a:p>
            <a:pPr marL="0" lvl="0" indent="0">
              <a:buNone/>
            </a:pPr>
            <a:r>
              <a:rPr lang="en-US" sz="2800" dirty="0"/>
              <a:t>1.  </a:t>
            </a:r>
            <a:r>
              <a:rPr lang="en-US" dirty="0"/>
              <a:t>Revenue by gender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9A313F-F07D-4FB8-7FEB-BA117ED9A9E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97245" y="2523200"/>
            <a:ext cx="4896512" cy="243941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2845946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C8704-B7C2-8FF8-0CD8-524985545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2CFAF-F8F7-64CA-C916-692DE0304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-18564"/>
            <a:ext cx="10396882" cy="1151965"/>
          </a:xfrm>
        </p:spPr>
        <p:txBody>
          <a:bodyPr>
            <a:normAutofit/>
          </a:bodyPr>
          <a:lstStyle/>
          <a:p>
            <a:r>
              <a:rPr lang="en-US" sz="4400" dirty="0"/>
              <a:t>8.</a:t>
            </a:r>
            <a:r>
              <a:rPr lang="en-US" sz="3600" dirty="0"/>
              <a:t> </a:t>
            </a:r>
            <a:r>
              <a:rPr lang="en-US" sz="4400" b="1" dirty="0"/>
              <a:t>SQL Analysis</a:t>
            </a:r>
            <a:endParaRPr lang="en-US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EBED9-0F67-B48E-83F7-F7FBB4B891D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28016" y="775284"/>
            <a:ext cx="10396882" cy="982496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2800" dirty="0"/>
              <a:t>2. </a:t>
            </a:r>
            <a:r>
              <a:rPr lang="en-US" dirty="0"/>
              <a:t>High-spending discount users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8AA4B9-22B3-4767-B333-4932E6CB562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111492" y="1673740"/>
            <a:ext cx="3758565" cy="375051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176943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20D97-7271-4DD1-5727-02AF64EBD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6C509-C4C2-2C47-9757-73F33D3D6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-18564"/>
            <a:ext cx="10396882" cy="1151965"/>
          </a:xfrm>
        </p:spPr>
        <p:txBody>
          <a:bodyPr>
            <a:normAutofit/>
          </a:bodyPr>
          <a:lstStyle/>
          <a:p>
            <a:r>
              <a:rPr lang="en-US" sz="4400" dirty="0"/>
              <a:t>8.</a:t>
            </a:r>
            <a:r>
              <a:rPr lang="en-US" sz="3600" dirty="0"/>
              <a:t> </a:t>
            </a:r>
            <a:r>
              <a:rPr lang="en-US" sz="4400" b="1" dirty="0"/>
              <a:t>SQL Analysis</a:t>
            </a:r>
            <a:endParaRPr lang="en-US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A64B8-2BF5-265E-111E-9E361BAC1FD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28016" y="775284"/>
            <a:ext cx="10396882" cy="982496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2800" dirty="0"/>
              <a:t>3. </a:t>
            </a:r>
            <a:r>
              <a:rPr lang="en-US" dirty="0"/>
              <a:t>Top-rated products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B7CA47-5B79-F4F4-EFD8-D89DB984A56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28016" y="1757780"/>
            <a:ext cx="6897902" cy="337225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5635481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E250D-D8F0-79F7-05B3-CE079E257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AA17C-EE51-A127-0757-2E949AFC4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-18564"/>
            <a:ext cx="10396882" cy="1151965"/>
          </a:xfrm>
        </p:spPr>
        <p:txBody>
          <a:bodyPr>
            <a:normAutofit/>
          </a:bodyPr>
          <a:lstStyle/>
          <a:p>
            <a:r>
              <a:rPr lang="en-US" sz="4400" dirty="0"/>
              <a:t>8.</a:t>
            </a:r>
            <a:r>
              <a:rPr lang="en-US" sz="3600" dirty="0"/>
              <a:t> </a:t>
            </a:r>
            <a:r>
              <a:rPr lang="en-US" sz="4400" b="1" dirty="0"/>
              <a:t>SQL Analysis</a:t>
            </a:r>
            <a:endParaRPr lang="en-US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111E69-C863-ECA2-4C9C-F8FA06B937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28016" y="775284"/>
            <a:ext cx="10396882" cy="982496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2800" dirty="0"/>
              <a:t>4. </a:t>
            </a:r>
            <a:r>
              <a:rPr lang="en-US" dirty="0"/>
              <a:t>Shipping comparison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5CA7EC-AF7F-B61D-6A0C-FAF60A337252}"/>
              </a:ext>
            </a:extLst>
          </p:cNvPr>
          <p:cNvPicPr/>
          <p:nvPr/>
        </p:nvPicPr>
        <p:blipFill>
          <a:blip r:embed="rId2"/>
          <a:srcRect/>
          <a:stretch/>
        </p:blipFill>
        <p:spPr>
          <a:xfrm>
            <a:off x="728016" y="1927249"/>
            <a:ext cx="6897902" cy="287407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9431616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EC0BF-EA00-06BA-5BE5-BBD214949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BB7B1-18F9-F118-298E-CE06338FF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-18564"/>
            <a:ext cx="10396882" cy="1151965"/>
          </a:xfrm>
        </p:spPr>
        <p:txBody>
          <a:bodyPr>
            <a:normAutofit/>
          </a:bodyPr>
          <a:lstStyle/>
          <a:p>
            <a:r>
              <a:rPr lang="en-US" sz="4400" dirty="0"/>
              <a:t>8.</a:t>
            </a:r>
            <a:r>
              <a:rPr lang="en-US" sz="3600" dirty="0"/>
              <a:t> </a:t>
            </a:r>
            <a:r>
              <a:rPr lang="en-US" sz="4400" b="1" dirty="0"/>
              <a:t>SQL Analysis</a:t>
            </a:r>
            <a:endParaRPr lang="en-US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A6A94-6083-2063-BD44-73836F4CCAD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28016" y="775284"/>
            <a:ext cx="10396882" cy="982496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2800" dirty="0"/>
              <a:t>5. </a:t>
            </a:r>
            <a:r>
              <a:rPr lang="en-US" dirty="0"/>
              <a:t>Subscriber vs non-subscriber behavior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4B7699-64DB-BC0F-A413-9E3E769C132A}"/>
              </a:ext>
            </a:extLst>
          </p:cNvPr>
          <p:cNvPicPr/>
          <p:nvPr/>
        </p:nvPicPr>
        <p:blipFill>
          <a:blip r:embed="rId2"/>
          <a:srcRect/>
          <a:stretch/>
        </p:blipFill>
        <p:spPr>
          <a:xfrm>
            <a:off x="728016" y="1757780"/>
            <a:ext cx="9805206" cy="202943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743232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C8116-8DF5-04D3-9C1D-A2EE705D5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CAB0B-1F5F-3676-1117-17D880012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-18564"/>
            <a:ext cx="10396882" cy="1151965"/>
          </a:xfrm>
        </p:spPr>
        <p:txBody>
          <a:bodyPr>
            <a:normAutofit/>
          </a:bodyPr>
          <a:lstStyle/>
          <a:p>
            <a:r>
              <a:rPr lang="en-US" sz="4400" dirty="0"/>
              <a:t>8.</a:t>
            </a:r>
            <a:r>
              <a:rPr lang="en-US" sz="3600" dirty="0"/>
              <a:t> </a:t>
            </a:r>
            <a:r>
              <a:rPr lang="en-US" sz="4400" b="1" dirty="0"/>
              <a:t>SQL Analysis</a:t>
            </a:r>
            <a:endParaRPr lang="en-US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FBE0B-490B-806F-201F-336420BB6B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28016" y="775284"/>
            <a:ext cx="10396882" cy="982496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2800" dirty="0"/>
              <a:t>6. </a:t>
            </a:r>
            <a:r>
              <a:rPr lang="en-US" dirty="0"/>
              <a:t>Discount-dependent products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639BB3-15A1-0165-BBB1-E5E8D0C2E194}"/>
              </a:ext>
            </a:extLst>
          </p:cNvPr>
          <p:cNvPicPr/>
          <p:nvPr/>
        </p:nvPicPr>
        <p:blipFill>
          <a:blip r:embed="rId2"/>
          <a:srcRect/>
          <a:stretch/>
        </p:blipFill>
        <p:spPr>
          <a:xfrm>
            <a:off x="849964" y="1756590"/>
            <a:ext cx="5426548" cy="334363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2761119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E8AEA-35E7-1F23-97B9-3E0C184D3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17CE4-AF69-FB28-1D09-209CC7E9D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-18564"/>
            <a:ext cx="10396882" cy="1151965"/>
          </a:xfrm>
        </p:spPr>
        <p:txBody>
          <a:bodyPr>
            <a:normAutofit/>
          </a:bodyPr>
          <a:lstStyle/>
          <a:p>
            <a:r>
              <a:rPr lang="en-US" sz="4400" dirty="0"/>
              <a:t>8.</a:t>
            </a:r>
            <a:r>
              <a:rPr lang="en-US" sz="3600" dirty="0"/>
              <a:t> </a:t>
            </a:r>
            <a:r>
              <a:rPr lang="en-US" sz="4400" b="1" dirty="0"/>
              <a:t>SQL Analysis</a:t>
            </a:r>
            <a:endParaRPr lang="en-US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DAAA2-DB53-99C5-885A-5C34C0D5EEF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28016" y="775284"/>
            <a:ext cx="10396882" cy="982496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2800" dirty="0"/>
              <a:t>7. </a:t>
            </a:r>
            <a:r>
              <a:rPr lang="en-US" dirty="0"/>
              <a:t>Customer segmentation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426A1B-6D15-7F55-F927-8AEF7E191B3C}"/>
              </a:ext>
            </a:extLst>
          </p:cNvPr>
          <p:cNvPicPr/>
          <p:nvPr/>
        </p:nvPicPr>
        <p:blipFill>
          <a:blip r:embed="rId2"/>
          <a:srcRect/>
          <a:stretch/>
        </p:blipFill>
        <p:spPr>
          <a:xfrm>
            <a:off x="849963" y="1927249"/>
            <a:ext cx="8124531" cy="273001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8908537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02051-9725-22C0-42E4-93E4D1B8C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0875D-F6DD-9077-D92D-BDB4CBD04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-18564"/>
            <a:ext cx="10396882" cy="1151965"/>
          </a:xfrm>
        </p:spPr>
        <p:txBody>
          <a:bodyPr>
            <a:normAutofit/>
          </a:bodyPr>
          <a:lstStyle/>
          <a:p>
            <a:r>
              <a:rPr lang="en-US" sz="4400" dirty="0"/>
              <a:t>8.</a:t>
            </a:r>
            <a:r>
              <a:rPr lang="en-US" sz="3600" dirty="0"/>
              <a:t> </a:t>
            </a:r>
            <a:r>
              <a:rPr lang="en-US" sz="4400" b="1" dirty="0"/>
              <a:t>SQL Analysis</a:t>
            </a:r>
            <a:endParaRPr lang="en-US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563B8-F415-B40C-5399-0DC2058EB92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28016" y="775284"/>
            <a:ext cx="10396882" cy="982496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2800" dirty="0"/>
              <a:t>8. </a:t>
            </a:r>
            <a:r>
              <a:rPr lang="en-US" dirty="0"/>
              <a:t>Top products by category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B345C1-233E-4B50-9594-356C161D5D29}"/>
              </a:ext>
            </a:extLst>
          </p:cNvPr>
          <p:cNvPicPr/>
          <p:nvPr/>
        </p:nvPicPr>
        <p:blipFill>
          <a:blip r:embed="rId2"/>
          <a:srcRect/>
          <a:stretch/>
        </p:blipFill>
        <p:spPr>
          <a:xfrm>
            <a:off x="896422" y="1563263"/>
            <a:ext cx="6773885" cy="395146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7540583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B3D6A-76FC-BBF1-69F2-4AB73C339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D3578-6987-3E89-0F30-8EAD65786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-18564"/>
            <a:ext cx="10396882" cy="1151965"/>
          </a:xfrm>
        </p:spPr>
        <p:txBody>
          <a:bodyPr>
            <a:normAutofit/>
          </a:bodyPr>
          <a:lstStyle/>
          <a:p>
            <a:r>
              <a:rPr lang="en-US" sz="4400" dirty="0"/>
              <a:t>8.</a:t>
            </a:r>
            <a:r>
              <a:rPr lang="en-US" sz="3600" dirty="0"/>
              <a:t> </a:t>
            </a:r>
            <a:r>
              <a:rPr lang="en-US" sz="4400" b="1" dirty="0"/>
              <a:t>SQL Analysis</a:t>
            </a:r>
            <a:endParaRPr lang="en-US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D43D5-9FEC-A46C-6FFB-3FB663293C4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28016" y="775284"/>
            <a:ext cx="10396882" cy="982496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2800" dirty="0"/>
              <a:t>9. </a:t>
            </a:r>
            <a:r>
              <a:rPr lang="en-US" dirty="0"/>
              <a:t>Repeat buyers and subscriptions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E41E60-D1F2-0794-DC90-21DB02A46F0D}"/>
              </a:ext>
            </a:extLst>
          </p:cNvPr>
          <p:cNvPicPr/>
          <p:nvPr/>
        </p:nvPicPr>
        <p:blipFill>
          <a:blip r:embed="rId2"/>
          <a:srcRect/>
          <a:stretch/>
        </p:blipFill>
        <p:spPr>
          <a:xfrm>
            <a:off x="896422" y="1652420"/>
            <a:ext cx="8934297" cy="256447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722446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B8CCC-BB4C-499A-77D4-34A320478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8B4E6-573C-3F23-5FF7-52C587452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-18564"/>
            <a:ext cx="10396882" cy="1151965"/>
          </a:xfrm>
        </p:spPr>
        <p:txBody>
          <a:bodyPr>
            <a:normAutofit/>
          </a:bodyPr>
          <a:lstStyle/>
          <a:p>
            <a:r>
              <a:rPr lang="en-US" sz="4400" dirty="0"/>
              <a:t>8.</a:t>
            </a:r>
            <a:r>
              <a:rPr lang="en-US" sz="3600" dirty="0"/>
              <a:t> </a:t>
            </a:r>
            <a:r>
              <a:rPr lang="en-US" sz="4400" b="1" dirty="0"/>
              <a:t>SQL Analysis</a:t>
            </a:r>
            <a:endParaRPr lang="en-US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5CBAB4-0347-C98D-6DEA-1F6C5B066EA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28016" y="775284"/>
            <a:ext cx="10396882" cy="982496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2800" dirty="0"/>
              <a:t>10. </a:t>
            </a:r>
            <a:r>
              <a:rPr lang="en-US" dirty="0"/>
              <a:t>Revenue by age group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D8462B-52E7-8CC7-4334-46EEAB1492F4}"/>
              </a:ext>
            </a:extLst>
          </p:cNvPr>
          <p:cNvPicPr/>
          <p:nvPr/>
        </p:nvPicPr>
        <p:blipFill>
          <a:blip r:embed="rId2"/>
          <a:srcRect/>
          <a:stretch/>
        </p:blipFill>
        <p:spPr>
          <a:xfrm>
            <a:off x="896422" y="1605407"/>
            <a:ext cx="6241225" cy="356308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9427341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02F79-5D5E-84AE-8B70-CA0EC8F1E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50D75-2CFB-C31C-640B-7D88A31BC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-18564"/>
            <a:ext cx="10396882" cy="1151965"/>
          </a:xfrm>
        </p:spPr>
        <p:txBody>
          <a:bodyPr>
            <a:normAutofit/>
          </a:bodyPr>
          <a:lstStyle/>
          <a:p>
            <a:r>
              <a:rPr lang="en-US" sz="4400" dirty="0"/>
              <a:t>9. Customer Segmentation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92D6A56-1996-14DA-AFFC-7AD3E7D6D8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6773507"/>
              </p:ext>
            </p:extLst>
          </p:nvPr>
        </p:nvGraphicFramePr>
        <p:xfrm>
          <a:off x="729798" y="1334068"/>
          <a:ext cx="10816008" cy="18409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08004">
                  <a:extLst>
                    <a:ext uri="{9D8B030D-6E8A-4147-A177-3AD203B41FA5}">
                      <a16:colId xmlns:a16="http://schemas.microsoft.com/office/drawing/2014/main" val="2395858137"/>
                    </a:ext>
                  </a:extLst>
                </a:gridCol>
                <a:gridCol w="5408004">
                  <a:extLst>
                    <a:ext uri="{9D8B030D-6E8A-4147-A177-3AD203B41FA5}">
                      <a16:colId xmlns:a16="http://schemas.microsoft.com/office/drawing/2014/main" val="2972037518"/>
                    </a:ext>
                  </a:extLst>
                </a:gridCol>
              </a:tblGrid>
              <a:tr h="46024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u="none" strike="noStrike" dirty="0">
                          <a:effectLst/>
                          <a:latin typeface="+mn-lt"/>
                        </a:rPr>
                        <a:t>Segment</a:t>
                      </a:r>
                      <a:endParaRPr lang="en-US" b="0" i="0" u="none" strike="noStrike" dirty="0">
                        <a:solidFill>
                          <a:srgbClr val="FFFFFF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8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9266263"/>
                  </a:ext>
                </a:extLst>
              </a:tr>
              <a:tr h="46024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u="none" strike="noStrike" dirty="0">
                          <a:effectLst/>
                          <a:latin typeface="Century" panose="02040604050505020304" pitchFamily="18" charset="0"/>
                        </a:rPr>
                        <a:t>Loyal</a:t>
                      </a:r>
                      <a:endParaRPr lang="en-US" b="0" i="0" u="none" strike="noStrike" dirty="0">
                        <a:solidFill>
                          <a:srgbClr val="FFFFFF"/>
                        </a:solidFill>
                        <a:effectLst/>
                        <a:latin typeface="Century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u="none" strike="noStrike">
                          <a:effectLst/>
                          <a:latin typeface="Century" panose="02040604050505020304" pitchFamily="18" charset="0"/>
                        </a:rPr>
                        <a:t>3,116</a:t>
                      </a:r>
                      <a:endParaRPr lang="en-US" b="0" i="0" u="none" strike="noStrike">
                        <a:solidFill>
                          <a:srgbClr val="FFFFFF"/>
                        </a:solidFill>
                        <a:effectLst/>
                        <a:latin typeface="Century" panose="020406040505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7380905"/>
                  </a:ext>
                </a:extLst>
              </a:tr>
              <a:tr h="46024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u="none" strike="noStrike">
                          <a:effectLst/>
                          <a:latin typeface="Century" panose="02040604050505020304" pitchFamily="18" charset="0"/>
                        </a:rPr>
                        <a:t>Returning</a:t>
                      </a:r>
                      <a:endParaRPr lang="en-US" b="0" i="0" u="none" strike="noStrike">
                        <a:solidFill>
                          <a:srgbClr val="FFFFFF"/>
                        </a:solidFill>
                        <a:effectLst/>
                        <a:latin typeface="Century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u="none" strike="noStrike" dirty="0">
                          <a:effectLst/>
                          <a:latin typeface="Century" panose="02040604050505020304" pitchFamily="18" charset="0"/>
                        </a:rPr>
                        <a:t>701</a:t>
                      </a:r>
                      <a:endParaRPr lang="en-US" b="0" i="0" u="none" strike="noStrike" dirty="0">
                        <a:solidFill>
                          <a:srgbClr val="FFFFFF"/>
                        </a:solidFill>
                        <a:effectLst/>
                        <a:latin typeface="Century" panose="020406040505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996054"/>
                  </a:ext>
                </a:extLst>
              </a:tr>
              <a:tr h="46024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u="none" strike="noStrike" dirty="0">
                          <a:effectLst/>
                          <a:latin typeface="Century" panose="02040604050505020304" pitchFamily="18" charset="0"/>
                        </a:rPr>
                        <a:t>New</a:t>
                      </a:r>
                      <a:endParaRPr lang="en-US" b="0" i="0" u="none" strike="noStrike" dirty="0">
                        <a:solidFill>
                          <a:srgbClr val="FFFFFF"/>
                        </a:solidFill>
                        <a:effectLst/>
                        <a:latin typeface="Century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u="none" strike="noStrike" dirty="0">
                          <a:effectLst/>
                          <a:latin typeface="Century" panose="02040604050505020304" pitchFamily="18" charset="0"/>
                        </a:rPr>
                        <a:t>83</a:t>
                      </a:r>
                      <a:endParaRPr lang="en-US" b="0" i="0" u="none" strike="noStrike" dirty="0">
                        <a:solidFill>
                          <a:srgbClr val="FFFFFF"/>
                        </a:solidFill>
                        <a:effectLst/>
                        <a:latin typeface="Century" panose="020406040505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033196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8DE71B0-F46E-512B-0291-CE3E0D3D73DE}"/>
              </a:ext>
            </a:extLst>
          </p:cNvPr>
          <p:cNvSpPr txBox="1"/>
          <p:nvPr/>
        </p:nvSpPr>
        <p:spPr>
          <a:xfrm>
            <a:off x="729798" y="3375731"/>
            <a:ext cx="804104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Insight</a:t>
            </a:r>
          </a:p>
          <a:p>
            <a:r>
              <a:rPr lang="en-US" dirty="0">
                <a:latin typeface="Century" panose="02040604050505020304" pitchFamily="18" charset="0"/>
              </a:rPr>
              <a:t>The dataset is dominated by customers with previous purchasing activity.</a:t>
            </a:r>
          </a:p>
          <a:p>
            <a:endParaRPr lang="en-US" dirty="0">
              <a:latin typeface="Century" panose="02040604050505020304" pitchFamily="18" charset="0"/>
            </a:endParaRPr>
          </a:p>
          <a:p>
            <a:r>
              <a:rPr lang="en-US" dirty="0"/>
              <a:t>Business Opportunity</a:t>
            </a:r>
          </a:p>
          <a:p>
            <a:r>
              <a:rPr lang="en-US" dirty="0">
                <a:latin typeface="Century" panose="02040604050505020304" pitchFamily="18" charset="0"/>
              </a:rPr>
              <a:t>Focus on:</a:t>
            </a:r>
          </a:p>
          <a:p>
            <a:r>
              <a:rPr lang="en-US" i="1" dirty="0">
                <a:latin typeface="Century" panose="02040604050505020304" pitchFamily="18" charset="0"/>
              </a:rPr>
              <a:t>New → Returning → Loyal</a:t>
            </a:r>
          </a:p>
          <a:p>
            <a:r>
              <a:rPr lang="en-US" dirty="0">
                <a:latin typeface="Century" panose="02040604050505020304" pitchFamily="18" charset="0"/>
              </a:rPr>
              <a:t>as a customer-retention journey</a:t>
            </a:r>
            <a:r>
              <a:rPr lang="en-US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6DAB7F-6970-1A14-A128-5F3B572BCFAA}"/>
              </a:ext>
            </a:extLst>
          </p:cNvPr>
          <p:cNvSpPr txBox="1"/>
          <p:nvPr/>
        </p:nvSpPr>
        <p:spPr>
          <a:xfrm>
            <a:off x="729798" y="948735"/>
            <a:ext cx="2105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Customer Segments</a:t>
            </a:r>
          </a:p>
        </p:txBody>
      </p:sp>
    </p:spTree>
    <p:extLst>
      <p:ext uri="{BB962C8B-B14F-4D97-AF65-F5344CB8AC3E}">
        <p14:creationId xmlns:p14="http://schemas.microsoft.com/office/powerpoint/2010/main" val="9085302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D16A0-9843-AF80-54D7-E54CB3BD3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BE934-6EBA-7D4C-8620-2B60650A1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-18564"/>
            <a:ext cx="10396882" cy="1151965"/>
          </a:xfrm>
        </p:spPr>
        <p:txBody>
          <a:bodyPr>
            <a:normAutofit/>
          </a:bodyPr>
          <a:lstStyle/>
          <a:p>
            <a:r>
              <a:rPr lang="en-US" sz="4400" dirty="0"/>
              <a:t>10. Product &amp; Discount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DF5BA-46CC-6A70-0C17-01F4394129A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3626" y="1068246"/>
            <a:ext cx="10396882" cy="4341851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Highest-Rated Products</a:t>
            </a:r>
          </a:p>
          <a:p>
            <a:pPr lvl="0">
              <a:lnSpc>
                <a:spcPct val="100000"/>
              </a:lnSpc>
            </a:pPr>
            <a:r>
              <a:rPr lang="en-US" sz="1400" dirty="0">
                <a:latin typeface="Century" panose="02040604050505020304" pitchFamily="18" charset="0"/>
              </a:rPr>
              <a:t>Gloves — 3.86</a:t>
            </a:r>
          </a:p>
          <a:p>
            <a:pPr lvl="0">
              <a:lnSpc>
                <a:spcPct val="100000"/>
              </a:lnSpc>
            </a:pPr>
            <a:r>
              <a:rPr lang="en-US" sz="1400" dirty="0">
                <a:latin typeface="Century" panose="02040604050505020304" pitchFamily="18" charset="0"/>
              </a:rPr>
              <a:t>Sandals — 3.84</a:t>
            </a:r>
          </a:p>
          <a:p>
            <a:pPr lvl="0">
              <a:lnSpc>
                <a:spcPct val="100000"/>
              </a:lnSpc>
            </a:pPr>
            <a:r>
              <a:rPr lang="en-US" sz="1400" dirty="0">
                <a:latin typeface="Century" panose="02040604050505020304" pitchFamily="18" charset="0"/>
              </a:rPr>
              <a:t>Boots — 3.82</a:t>
            </a:r>
          </a:p>
          <a:p>
            <a:pPr lvl="0">
              <a:lnSpc>
                <a:spcPct val="100000"/>
              </a:lnSpc>
            </a:pPr>
            <a:r>
              <a:rPr lang="en-US" sz="1400" dirty="0">
                <a:latin typeface="Century" panose="02040604050505020304" pitchFamily="18" charset="0"/>
              </a:rPr>
              <a:t>Hat — 3.80</a:t>
            </a:r>
          </a:p>
          <a:p>
            <a:pPr lvl="0">
              <a:lnSpc>
                <a:spcPct val="100000"/>
              </a:lnSpc>
            </a:pPr>
            <a:r>
              <a:rPr lang="en-US" sz="1400" dirty="0">
                <a:latin typeface="Century" panose="02040604050505020304" pitchFamily="18" charset="0"/>
              </a:rPr>
              <a:t>Skirt — 3.78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Highest Discount Rates</a:t>
            </a:r>
          </a:p>
          <a:p>
            <a:pPr>
              <a:lnSpc>
                <a:spcPct val="100000"/>
              </a:lnSpc>
            </a:pPr>
            <a:r>
              <a:rPr lang="en-US" sz="1400" dirty="0">
                <a:latin typeface="Century" panose="02040604050505020304" pitchFamily="18" charset="0"/>
              </a:rPr>
              <a:t>Hat — 50.00%</a:t>
            </a:r>
          </a:p>
          <a:p>
            <a:pPr>
              <a:lnSpc>
                <a:spcPct val="100000"/>
              </a:lnSpc>
            </a:pPr>
            <a:r>
              <a:rPr lang="en-US" sz="1400" dirty="0">
                <a:latin typeface="Century" panose="02040604050505020304" pitchFamily="18" charset="0"/>
              </a:rPr>
              <a:t>Sneakers — 49.66%</a:t>
            </a:r>
          </a:p>
          <a:p>
            <a:pPr>
              <a:lnSpc>
                <a:spcPct val="100000"/>
              </a:lnSpc>
            </a:pPr>
            <a:r>
              <a:rPr lang="en-US" sz="1400" dirty="0">
                <a:latin typeface="Century" panose="02040604050505020304" pitchFamily="18" charset="0"/>
              </a:rPr>
              <a:t>Coat — 49.07%</a:t>
            </a:r>
          </a:p>
          <a:p>
            <a:pPr>
              <a:lnSpc>
                <a:spcPct val="100000"/>
              </a:lnSpc>
            </a:pPr>
            <a:r>
              <a:rPr lang="en-US" sz="1400" dirty="0">
                <a:latin typeface="Century" panose="02040604050505020304" pitchFamily="18" charset="0"/>
              </a:rPr>
              <a:t>Sweater — 48.17%</a:t>
            </a:r>
          </a:p>
          <a:p>
            <a:pPr>
              <a:lnSpc>
                <a:spcPct val="100000"/>
              </a:lnSpc>
            </a:pPr>
            <a:r>
              <a:rPr lang="en-US" sz="1400" dirty="0">
                <a:latin typeface="Century" panose="02040604050505020304" pitchFamily="18" charset="0"/>
              </a:rPr>
              <a:t>Pants — 47.37%</a:t>
            </a:r>
          </a:p>
        </p:txBody>
      </p:sp>
    </p:spTree>
    <p:extLst>
      <p:ext uri="{BB962C8B-B14F-4D97-AF65-F5344CB8AC3E}">
        <p14:creationId xmlns:p14="http://schemas.microsoft.com/office/powerpoint/2010/main" val="29234691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80C08-1B15-900A-0434-DD688F450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C7E17-E626-CA9E-536B-A47821530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-18564"/>
            <a:ext cx="10396882" cy="1151965"/>
          </a:xfrm>
        </p:spPr>
        <p:txBody>
          <a:bodyPr>
            <a:normAutofit/>
          </a:bodyPr>
          <a:lstStyle/>
          <a:p>
            <a:r>
              <a:rPr lang="en-US" sz="4400" dirty="0"/>
              <a:t>11. Power BI Dashboard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E5D448-BEBA-5EEB-03B8-1B7F904EAE0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85801" y="944766"/>
            <a:ext cx="8283258" cy="4630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1581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454C4-C363-9E43-766B-0EC025C23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9835A-85DB-AE9B-063B-F516AAA05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-18564"/>
            <a:ext cx="10396882" cy="1151965"/>
          </a:xfrm>
        </p:spPr>
        <p:txBody>
          <a:bodyPr>
            <a:normAutofit/>
          </a:bodyPr>
          <a:lstStyle/>
          <a:p>
            <a:r>
              <a:rPr lang="en-US" sz="4400" dirty="0"/>
              <a:t>11. Power BI Dashboard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55C0AB-42BF-24A9-9F17-1DABC8AEF132}"/>
              </a:ext>
            </a:extLst>
          </p:cNvPr>
          <p:cNvSpPr txBox="1"/>
          <p:nvPr/>
        </p:nvSpPr>
        <p:spPr>
          <a:xfrm>
            <a:off x="841159" y="1133401"/>
            <a:ext cx="6607206" cy="4193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lnSpc>
                <a:spcPct val="150000"/>
              </a:lnSpc>
              <a:buNone/>
            </a:pPr>
            <a:r>
              <a:rPr lang="en-US" b="1" i="0" u="none" strike="noStrike" dirty="0">
                <a:solidFill>
                  <a:schemeClr val="tx1"/>
                </a:solidFill>
                <a:effectLst/>
              </a:rPr>
              <a:t>Key KPIs</a:t>
            </a:r>
            <a:endParaRPr lang="en-US" b="0" i="0" u="none" strike="noStrike" dirty="0">
              <a:solidFill>
                <a:schemeClr val="tx1"/>
              </a:solidFill>
              <a:effectLst/>
            </a:endParaRPr>
          </a:p>
          <a:p>
            <a:pPr marL="342900" lvl="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chemeClr val="tx1"/>
                </a:solidFill>
                <a:effectLst/>
                <a:latin typeface="Century" panose="02040604050505020304" pitchFamily="18" charset="0"/>
              </a:rPr>
              <a:t>3.9K Customers</a:t>
            </a:r>
          </a:p>
          <a:p>
            <a:pPr marL="342900" lvl="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chemeClr val="tx1"/>
                </a:solidFill>
                <a:effectLst/>
                <a:latin typeface="Century" panose="02040604050505020304" pitchFamily="18" charset="0"/>
              </a:rPr>
              <a:t>$59.76 Average Purchase</a:t>
            </a:r>
          </a:p>
          <a:p>
            <a:pPr marL="342900" lvl="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chemeClr val="tx1"/>
                </a:solidFill>
                <a:effectLst/>
                <a:latin typeface="Century" panose="02040604050505020304" pitchFamily="18" charset="0"/>
              </a:rPr>
              <a:t>3.75 Average Rating</a:t>
            </a:r>
          </a:p>
          <a:p>
            <a:pPr indent="0" algn="l">
              <a:lnSpc>
                <a:spcPct val="150000"/>
              </a:lnSpc>
              <a:buNone/>
            </a:pPr>
            <a:r>
              <a:rPr lang="en-US" b="1" i="0" u="none" strike="noStrike" dirty="0">
                <a:solidFill>
                  <a:schemeClr val="tx1"/>
                </a:solidFill>
                <a:effectLst/>
              </a:rPr>
              <a:t>Dashboard Features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entury" panose="02040604050505020304" pitchFamily="18" charset="0"/>
              </a:rPr>
              <a:t>Category analysis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entury" panose="02040604050505020304" pitchFamily="18" charset="0"/>
              </a:rPr>
              <a:t>Age-group analysis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entury" panose="02040604050505020304" pitchFamily="18" charset="0"/>
              </a:rPr>
              <a:t>Subscription analysis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entury" panose="02040604050505020304" pitchFamily="18" charset="0"/>
              </a:rPr>
              <a:t>Sales analysis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entury" panose="02040604050505020304" pitchFamily="18" charset="0"/>
              </a:rPr>
              <a:t>Interactive filters</a:t>
            </a:r>
          </a:p>
        </p:txBody>
      </p:sp>
    </p:spTree>
    <p:extLst>
      <p:ext uri="{BB962C8B-B14F-4D97-AF65-F5344CB8AC3E}">
        <p14:creationId xmlns:p14="http://schemas.microsoft.com/office/powerpoint/2010/main" val="20217815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57A85-26CC-E846-07B3-B64C885C0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2BD06-E965-CAB2-95AF-4AD52909F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-18564"/>
            <a:ext cx="10396882" cy="1151965"/>
          </a:xfrm>
        </p:spPr>
        <p:txBody>
          <a:bodyPr>
            <a:normAutofit/>
          </a:bodyPr>
          <a:lstStyle/>
          <a:p>
            <a:r>
              <a:rPr lang="en-US" sz="4400" dirty="0"/>
              <a:t>12.</a:t>
            </a:r>
            <a:r>
              <a:rPr lang="en-US" sz="4000" dirty="0"/>
              <a:t> </a:t>
            </a:r>
            <a:r>
              <a:rPr lang="en-US" sz="4400" dirty="0"/>
              <a:t>Business Recommendations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302C1A-E4C0-2AE2-9A34-6C25363F9A0C}"/>
              </a:ext>
            </a:extLst>
          </p:cNvPr>
          <p:cNvSpPr txBox="1"/>
          <p:nvPr/>
        </p:nvSpPr>
        <p:spPr>
          <a:xfrm>
            <a:off x="841159" y="1133401"/>
            <a:ext cx="6607206" cy="4193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01 — Strengthen Loyalty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entury" panose="02040604050505020304" pitchFamily="18" charset="0"/>
              </a:rPr>
              <a:t>Reward repeat customers.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02 — Improve Subscription Value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entury" panose="02040604050505020304" pitchFamily="18" charset="0"/>
              </a:rPr>
              <a:t>Create meaningful subscriber benefits.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03 — Optimize Discounts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entury" panose="02040604050505020304" pitchFamily="18" charset="0"/>
              </a:rPr>
              <a:t>Evaluate discounts alongside sales and profitability.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04 — Promote High-Rated Products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entury" panose="02040604050505020304" pitchFamily="18" charset="0"/>
              </a:rPr>
              <a:t>Use customer feedback in product marketing.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05 — Personalize Marketing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entury" panose="02040604050505020304" pitchFamily="18" charset="0"/>
              </a:rPr>
              <a:t>Use customer segments and purchasing behavior.</a:t>
            </a:r>
          </a:p>
        </p:txBody>
      </p:sp>
    </p:spTree>
    <p:extLst>
      <p:ext uri="{BB962C8B-B14F-4D97-AF65-F5344CB8AC3E}">
        <p14:creationId xmlns:p14="http://schemas.microsoft.com/office/powerpoint/2010/main" val="33775763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14F6A-6F51-3259-1B44-1A0698BB3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0F09E-7DFF-5D81-2FCF-EC1E77608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-18564"/>
            <a:ext cx="10396882" cy="1151965"/>
          </a:xfrm>
        </p:spPr>
        <p:txBody>
          <a:bodyPr>
            <a:normAutofit/>
          </a:bodyPr>
          <a:lstStyle/>
          <a:p>
            <a:r>
              <a:rPr lang="en-US" sz="4400" dirty="0"/>
              <a:t>12.</a:t>
            </a:r>
            <a:r>
              <a:rPr lang="en-US" sz="3200" dirty="0"/>
              <a:t> </a:t>
            </a:r>
            <a:r>
              <a:rPr lang="en-US" sz="4400" b="1" dirty="0"/>
              <a:t>Conclusion</a:t>
            </a:r>
            <a:endParaRPr lang="en-US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91E0EB-FFC1-E7CE-2DC9-672A03BB3E77}"/>
              </a:ext>
            </a:extLst>
          </p:cNvPr>
          <p:cNvSpPr txBox="1"/>
          <p:nvPr/>
        </p:nvSpPr>
        <p:spPr>
          <a:xfrm>
            <a:off x="841159" y="1133401"/>
            <a:ext cx="6607206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What Did We Learn?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entury" panose="02040604050505020304" pitchFamily="18" charset="0"/>
              </a:rPr>
              <a:t>Customer shopping data can reveal patterns in: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entury" panose="02040604050505020304" pitchFamily="18" charset="0"/>
              </a:rPr>
              <a:t>Spending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entury" panose="02040604050505020304" pitchFamily="18" charset="0"/>
              </a:rPr>
              <a:t>Loyalty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entury" panose="02040604050505020304" pitchFamily="18" charset="0"/>
              </a:rPr>
              <a:t>Product preferences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entury" panose="02040604050505020304" pitchFamily="18" charset="0"/>
              </a:rPr>
              <a:t>Discounts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entury" panose="02040604050505020304" pitchFamily="18" charset="0"/>
              </a:rPr>
              <a:t>Subscriptions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entury" panose="02040604050505020304" pitchFamily="18" charset="0"/>
              </a:rPr>
              <a:t>Customer demographics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2000" dirty="0">
              <a:latin typeface="Century" panose="02040604050505020304" pitchFamily="18" charset="0"/>
            </a:endParaRPr>
          </a:p>
          <a:p>
            <a:r>
              <a:rPr lang="en-US" sz="2000" b="1" dirty="0"/>
              <a:t>Final Takeaway</a:t>
            </a:r>
          </a:p>
          <a:p>
            <a:r>
              <a:rPr lang="en-US" sz="2000" b="1" dirty="0">
                <a:latin typeface="Century" panose="02040604050505020304" pitchFamily="18" charset="0"/>
              </a:rPr>
              <a:t>The value of analytics is not simply finding patterns in data. It is converting those patterns into better business decisions.</a:t>
            </a:r>
            <a:endParaRPr lang="en-US" sz="2000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33308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Main Event</Template>
  <TotalTime>49</TotalTime>
  <Words>642</Words>
  <Application>Microsoft Macintosh PowerPoint</Application>
  <PresentationFormat>Widescreen</PresentationFormat>
  <Paragraphs>181</Paragraphs>
  <Slides>23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Aptos</vt:lpstr>
      <vt:lpstr>Arial</vt:lpstr>
      <vt:lpstr>Century</vt:lpstr>
      <vt:lpstr>Impact</vt:lpstr>
      <vt:lpstr>Main Event</vt:lpstr>
      <vt:lpstr>Customer Shopping Behavior Analysis</vt:lpstr>
      <vt:lpstr>1. Business Problem</vt:lpstr>
      <vt:lpstr>2. Project objectives</vt:lpstr>
      <vt:lpstr>3. Dataset</vt:lpstr>
      <vt:lpstr>4. Technology Stack</vt:lpstr>
      <vt:lpstr>5. Data Cleaning</vt:lpstr>
      <vt:lpstr>7. Exploratory Data Analysis</vt:lpstr>
      <vt:lpstr>8. SQL Analysis</vt:lpstr>
      <vt:lpstr>8. SQL Analysis</vt:lpstr>
      <vt:lpstr>8. SQL Analysis</vt:lpstr>
      <vt:lpstr>8. SQL Analysis</vt:lpstr>
      <vt:lpstr>8. SQL Analysis</vt:lpstr>
      <vt:lpstr>8. SQL Analysis</vt:lpstr>
      <vt:lpstr>8. SQL Analysis</vt:lpstr>
      <vt:lpstr>8. SQL Analysis</vt:lpstr>
      <vt:lpstr>8. SQL Analysis</vt:lpstr>
      <vt:lpstr>8. SQL Analysis</vt:lpstr>
      <vt:lpstr>9. Customer Segmentation</vt:lpstr>
      <vt:lpstr>10. Product &amp; Discount Insights</vt:lpstr>
      <vt:lpstr>11. Power BI Dashboard</vt:lpstr>
      <vt:lpstr>11. Power BI Dashboard</vt:lpstr>
      <vt:lpstr>12. Business Recommendations</vt:lpstr>
      <vt:lpstr>12.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developers_are_god@outlook.com</dc:creator>
  <cp:lastModifiedBy>developers_are_god@outlook.com</cp:lastModifiedBy>
  <cp:revision>1</cp:revision>
  <dcterms:created xsi:type="dcterms:W3CDTF">2026-09-17T19:11:54Z</dcterms:created>
  <dcterms:modified xsi:type="dcterms:W3CDTF">2026-09-17T20:00:55Z</dcterms:modified>
</cp:coreProperties>
</file>